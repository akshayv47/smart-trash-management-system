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75" r:id="rId3"/>
    <p:sldId id="262" r:id="rId4"/>
    <p:sldId id="276" r:id="rId5"/>
    <p:sldId id="283" r:id="rId6"/>
    <p:sldId id="279" r:id="rId7"/>
    <p:sldId id="263" r:id="rId8"/>
    <p:sldId id="277" r:id="rId9"/>
    <p:sldId id="264" r:id="rId10"/>
    <p:sldId id="265" r:id="rId11"/>
    <p:sldId id="280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86536" autoAdjust="0"/>
  </p:normalViewPr>
  <p:slideViewPr>
    <p:cSldViewPr snapToGrid="0">
      <p:cViewPr varScale="1">
        <p:scale>
          <a:sx n="84" d="100"/>
          <a:sy n="84" d="100"/>
        </p:scale>
        <p:origin x="4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0FB1A9-A3D3-484A-AE8F-F3BA26299752}" type="doc">
      <dgm:prSet loTypeId="urn:microsoft.com/office/officeart/2005/8/layout/hProcess9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C55CFB-60B5-4481-9A59-F0C884BBDB47}">
      <dgm:prSet/>
      <dgm:spPr/>
      <dgm:t>
        <a:bodyPr/>
        <a:lstStyle/>
        <a:p>
          <a:r>
            <a:rPr lang="en-US" dirty="0"/>
            <a:t>Plan the system</a:t>
          </a:r>
          <a:endParaRPr lang="en-IN" dirty="0"/>
        </a:p>
      </dgm:t>
    </dgm:pt>
    <dgm:pt modelId="{BAFE91AB-3971-4F4E-8516-DD33D7162E1A}" type="parTrans" cxnId="{24801254-ABE2-45EF-BF9A-36374BC195FE}">
      <dgm:prSet/>
      <dgm:spPr/>
      <dgm:t>
        <a:bodyPr/>
        <a:lstStyle/>
        <a:p>
          <a:endParaRPr lang="en-IN"/>
        </a:p>
      </dgm:t>
    </dgm:pt>
    <dgm:pt modelId="{B23B9E99-44E1-46AF-B44D-8794714F8CF4}" type="sibTrans" cxnId="{24801254-ABE2-45EF-BF9A-36374BC195FE}">
      <dgm:prSet/>
      <dgm:spPr/>
      <dgm:t>
        <a:bodyPr/>
        <a:lstStyle/>
        <a:p>
          <a:endParaRPr lang="en-IN"/>
        </a:p>
      </dgm:t>
    </dgm:pt>
    <dgm:pt modelId="{6F3D047C-8267-4E92-8372-60AC08495123}">
      <dgm:prSet/>
      <dgm:spPr/>
      <dgm:t>
        <a:bodyPr/>
        <a:lstStyle/>
        <a:p>
          <a:r>
            <a:rPr lang="en-US" dirty="0"/>
            <a:t>Set up hardware</a:t>
          </a:r>
          <a:endParaRPr lang="en-IN" dirty="0"/>
        </a:p>
      </dgm:t>
    </dgm:pt>
    <dgm:pt modelId="{0A3AB029-4E12-437F-A218-7E31E1A5E8DF}" type="parTrans" cxnId="{24E80208-7D39-40B0-80B6-935C2F7D9355}">
      <dgm:prSet/>
      <dgm:spPr/>
      <dgm:t>
        <a:bodyPr/>
        <a:lstStyle/>
        <a:p>
          <a:endParaRPr lang="en-IN"/>
        </a:p>
      </dgm:t>
    </dgm:pt>
    <dgm:pt modelId="{4BD78E11-EBE0-4BF9-A3F0-6B5C69F8761A}" type="sibTrans" cxnId="{24E80208-7D39-40B0-80B6-935C2F7D9355}">
      <dgm:prSet/>
      <dgm:spPr/>
      <dgm:t>
        <a:bodyPr/>
        <a:lstStyle/>
        <a:p>
          <a:endParaRPr lang="en-IN"/>
        </a:p>
      </dgm:t>
    </dgm:pt>
    <dgm:pt modelId="{6308A200-8222-4328-A560-B2C98E883C9C}">
      <dgm:prSet/>
      <dgm:spPr/>
      <dgm:t>
        <a:bodyPr/>
        <a:lstStyle/>
        <a:p>
          <a:r>
            <a:rPr lang="en-US" dirty="0"/>
            <a:t>Build software</a:t>
          </a:r>
          <a:endParaRPr lang="en-IN" dirty="0"/>
        </a:p>
      </dgm:t>
    </dgm:pt>
    <dgm:pt modelId="{9F6086C5-285C-4A82-968E-7BF25CFB19B6}" type="parTrans" cxnId="{B5ECA04C-EFDF-4D8C-8E11-6E948BE00C2B}">
      <dgm:prSet/>
      <dgm:spPr/>
      <dgm:t>
        <a:bodyPr/>
        <a:lstStyle/>
        <a:p>
          <a:endParaRPr lang="en-IN"/>
        </a:p>
      </dgm:t>
    </dgm:pt>
    <dgm:pt modelId="{6DECE4D7-362B-48CE-9B02-267737586DB3}" type="sibTrans" cxnId="{B5ECA04C-EFDF-4D8C-8E11-6E948BE00C2B}">
      <dgm:prSet/>
      <dgm:spPr/>
      <dgm:t>
        <a:bodyPr/>
        <a:lstStyle/>
        <a:p>
          <a:endParaRPr lang="en-IN"/>
        </a:p>
      </dgm:t>
    </dgm:pt>
    <dgm:pt modelId="{63DA9588-22A2-47F0-81AF-4B91B01C5245}">
      <dgm:prSet/>
      <dgm:spPr/>
      <dgm:t>
        <a:bodyPr/>
        <a:lstStyle/>
        <a:p>
          <a:r>
            <a:rPr lang="en-US" dirty="0"/>
            <a:t>Test the system</a:t>
          </a:r>
          <a:endParaRPr lang="en-IN" dirty="0"/>
        </a:p>
      </dgm:t>
    </dgm:pt>
    <dgm:pt modelId="{4E819CF6-1E88-47BF-AD63-7387138D1E4B}" type="sibTrans" cxnId="{AA24951C-321F-45A3-A1DD-6201FDD36E2B}">
      <dgm:prSet/>
      <dgm:spPr/>
      <dgm:t>
        <a:bodyPr/>
        <a:lstStyle/>
        <a:p>
          <a:endParaRPr lang="en-IN"/>
        </a:p>
      </dgm:t>
    </dgm:pt>
    <dgm:pt modelId="{F4DCD661-52C9-4C5E-82E2-E658D526CF17}" type="parTrans" cxnId="{AA24951C-321F-45A3-A1DD-6201FDD36E2B}">
      <dgm:prSet/>
      <dgm:spPr/>
      <dgm:t>
        <a:bodyPr/>
        <a:lstStyle/>
        <a:p>
          <a:endParaRPr lang="en-IN"/>
        </a:p>
      </dgm:t>
    </dgm:pt>
    <dgm:pt modelId="{206DC72B-EBA3-4497-B270-9BD7EEE5D829}">
      <dgm:prSet/>
      <dgm:spPr/>
      <dgm:t>
        <a:bodyPr/>
        <a:lstStyle/>
        <a:p>
          <a:r>
            <a:rPr lang="en-US" dirty="0"/>
            <a:t>Maintain &amp; Monitor</a:t>
          </a:r>
        </a:p>
      </dgm:t>
    </dgm:pt>
    <dgm:pt modelId="{6D906BE9-37A0-453E-86B1-249635F8A30C}" type="sibTrans" cxnId="{DD910E46-9E0E-407F-8FA8-3FDFC45944E5}">
      <dgm:prSet/>
      <dgm:spPr/>
      <dgm:t>
        <a:bodyPr/>
        <a:lstStyle/>
        <a:p>
          <a:endParaRPr lang="en-IN"/>
        </a:p>
      </dgm:t>
    </dgm:pt>
    <dgm:pt modelId="{6B54E914-E18A-4E3D-8E0C-5A02A5722C0B}" type="parTrans" cxnId="{DD910E46-9E0E-407F-8FA8-3FDFC45944E5}">
      <dgm:prSet/>
      <dgm:spPr/>
      <dgm:t>
        <a:bodyPr/>
        <a:lstStyle/>
        <a:p>
          <a:endParaRPr lang="en-IN"/>
        </a:p>
      </dgm:t>
    </dgm:pt>
    <dgm:pt modelId="{1E982A2C-2617-45CF-917A-BFB28E2002F1}" type="pres">
      <dgm:prSet presAssocID="{BA0FB1A9-A3D3-484A-AE8F-F3BA26299752}" presName="CompostProcess" presStyleCnt="0">
        <dgm:presLayoutVars>
          <dgm:dir/>
          <dgm:resizeHandles val="exact"/>
        </dgm:presLayoutVars>
      </dgm:prSet>
      <dgm:spPr/>
    </dgm:pt>
    <dgm:pt modelId="{9A34866E-0105-4E33-B8E4-4651EDF3EF35}" type="pres">
      <dgm:prSet presAssocID="{BA0FB1A9-A3D3-484A-AE8F-F3BA26299752}" presName="arrow" presStyleLbl="bgShp" presStyleIdx="0" presStyleCnt="1" custLinFactNeighborX="-8552" custLinFactNeighborY="-2359"/>
      <dgm:spPr/>
    </dgm:pt>
    <dgm:pt modelId="{D35EEB5D-446D-4569-9BB5-4FA7536D83C5}" type="pres">
      <dgm:prSet presAssocID="{BA0FB1A9-A3D3-484A-AE8F-F3BA26299752}" presName="linearProcess" presStyleCnt="0"/>
      <dgm:spPr/>
    </dgm:pt>
    <dgm:pt modelId="{13486D09-2BA3-496E-A011-68A2A2D3C976}" type="pres">
      <dgm:prSet presAssocID="{DCC55CFB-60B5-4481-9A59-F0C884BBDB47}" presName="textNode" presStyleLbl="node1" presStyleIdx="0" presStyleCnt="5" custScaleY="110513">
        <dgm:presLayoutVars>
          <dgm:bulletEnabled val="1"/>
        </dgm:presLayoutVars>
      </dgm:prSet>
      <dgm:spPr/>
    </dgm:pt>
    <dgm:pt modelId="{43DACD08-A557-4B1F-9B42-3A40C12680D9}" type="pres">
      <dgm:prSet presAssocID="{B23B9E99-44E1-46AF-B44D-8794714F8CF4}" presName="sibTrans" presStyleCnt="0"/>
      <dgm:spPr/>
    </dgm:pt>
    <dgm:pt modelId="{025BD849-0002-430C-AF0A-29434BFBFC6F}" type="pres">
      <dgm:prSet presAssocID="{6F3D047C-8267-4E92-8372-60AC08495123}" presName="textNode" presStyleLbl="node1" presStyleIdx="1" presStyleCnt="5">
        <dgm:presLayoutVars>
          <dgm:bulletEnabled val="1"/>
        </dgm:presLayoutVars>
      </dgm:prSet>
      <dgm:spPr/>
    </dgm:pt>
    <dgm:pt modelId="{5A254970-64F0-47BB-B6A1-44D48AAE0A5B}" type="pres">
      <dgm:prSet presAssocID="{4BD78E11-EBE0-4BF9-A3F0-6B5C69F8761A}" presName="sibTrans" presStyleCnt="0"/>
      <dgm:spPr/>
    </dgm:pt>
    <dgm:pt modelId="{F4B8FA05-D34D-42FF-908C-7AE28E1B6B64}" type="pres">
      <dgm:prSet presAssocID="{6308A200-8222-4328-A560-B2C98E883C9C}" presName="textNode" presStyleLbl="node1" presStyleIdx="2" presStyleCnt="5" custLinFactNeighborX="41803" custLinFactNeighborY="-3932">
        <dgm:presLayoutVars>
          <dgm:bulletEnabled val="1"/>
        </dgm:presLayoutVars>
      </dgm:prSet>
      <dgm:spPr/>
    </dgm:pt>
    <dgm:pt modelId="{D169FA98-6DE8-4067-8113-1333AFFCDB77}" type="pres">
      <dgm:prSet presAssocID="{6DECE4D7-362B-48CE-9B02-267737586DB3}" presName="sibTrans" presStyleCnt="0"/>
      <dgm:spPr/>
    </dgm:pt>
    <dgm:pt modelId="{1E67ABB2-18EE-4A29-8AF8-405DA6D2EF27}" type="pres">
      <dgm:prSet presAssocID="{63DA9588-22A2-47F0-81AF-4B91B01C5245}" presName="textNode" presStyleLbl="node1" presStyleIdx="3" presStyleCnt="5">
        <dgm:presLayoutVars>
          <dgm:bulletEnabled val="1"/>
        </dgm:presLayoutVars>
      </dgm:prSet>
      <dgm:spPr/>
    </dgm:pt>
    <dgm:pt modelId="{B2430DE7-426E-4F72-91EE-79FE7029E6FB}" type="pres">
      <dgm:prSet presAssocID="{4E819CF6-1E88-47BF-AD63-7387138D1E4B}" presName="sibTrans" presStyleCnt="0"/>
      <dgm:spPr/>
    </dgm:pt>
    <dgm:pt modelId="{4A854FF8-4A5B-4AAC-B6AB-FC8CE670A7BE}" type="pres">
      <dgm:prSet presAssocID="{206DC72B-EBA3-4497-B270-9BD7EEE5D829}" presName="textNode" presStyleLbl="node1" presStyleIdx="4" presStyleCnt="5" custLinFactNeighborX="2364" custLinFactNeighborY="4007">
        <dgm:presLayoutVars>
          <dgm:bulletEnabled val="1"/>
        </dgm:presLayoutVars>
      </dgm:prSet>
      <dgm:spPr/>
    </dgm:pt>
  </dgm:ptLst>
  <dgm:cxnLst>
    <dgm:cxn modelId="{24E80208-7D39-40B0-80B6-935C2F7D9355}" srcId="{BA0FB1A9-A3D3-484A-AE8F-F3BA26299752}" destId="{6F3D047C-8267-4E92-8372-60AC08495123}" srcOrd="1" destOrd="0" parTransId="{0A3AB029-4E12-437F-A218-7E31E1A5E8DF}" sibTransId="{4BD78E11-EBE0-4BF9-A3F0-6B5C69F8761A}"/>
    <dgm:cxn modelId="{AA24951C-321F-45A3-A1DD-6201FDD36E2B}" srcId="{BA0FB1A9-A3D3-484A-AE8F-F3BA26299752}" destId="{63DA9588-22A2-47F0-81AF-4B91B01C5245}" srcOrd="3" destOrd="0" parTransId="{F4DCD661-52C9-4C5E-82E2-E658D526CF17}" sibTransId="{4E819CF6-1E88-47BF-AD63-7387138D1E4B}"/>
    <dgm:cxn modelId="{0685C51D-EA13-4AF1-AEBE-950B2E9DEA02}" type="presOf" srcId="{6F3D047C-8267-4E92-8372-60AC08495123}" destId="{025BD849-0002-430C-AF0A-29434BFBFC6F}" srcOrd="0" destOrd="0" presId="urn:microsoft.com/office/officeart/2005/8/layout/hProcess9"/>
    <dgm:cxn modelId="{DD910E46-9E0E-407F-8FA8-3FDFC45944E5}" srcId="{BA0FB1A9-A3D3-484A-AE8F-F3BA26299752}" destId="{206DC72B-EBA3-4497-B270-9BD7EEE5D829}" srcOrd="4" destOrd="0" parTransId="{6B54E914-E18A-4E3D-8E0C-5A02A5722C0B}" sibTransId="{6D906BE9-37A0-453E-86B1-249635F8A30C}"/>
    <dgm:cxn modelId="{B5ECA04C-EFDF-4D8C-8E11-6E948BE00C2B}" srcId="{BA0FB1A9-A3D3-484A-AE8F-F3BA26299752}" destId="{6308A200-8222-4328-A560-B2C98E883C9C}" srcOrd="2" destOrd="0" parTransId="{9F6086C5-285C-4A82-968E-7BF25CFB19B6}" sibTransId="{6DECE4D7-362B-48CE-9B02-267737586DB3}"/>
    <dgm:cxn modelId="{883D774E-4045-46A1-A742-12D2D6B54DAF}" type="presOf" srcId="{6308A200-8222-4328-A560-B2C98E883C9C}" destId="{F4B8FA05-D34D-42FF-908C-7AE28E1B6B64}" srcOrd="0" destOrd="0" presId="urn:microsoft.com/office/officeart/2005/8/layout/hProcess9"/>
    <dgm:cxn modelId="{24801254-ABE2-45EF-BF9A-36374BC195FE}" srcId="{BA0FB1A9-A3D3-484A-AE8F-F3BA26299752}" destId="{DCC55CFB-60B5-4481-9A59-F0C884BBDB47}" srcOrd="0" destOrd="0" parTransId="{BAFE91AB-3971-4F4E-8516-DD33D7162E1A}" sibTransId="{B23B9E99-44E1-46AF-B44D-8794714F8CF4}"/>
    <dgm:cxn modelId="{D5F8335A-71E6-4F8C-B710-9972BCE010D1}" type="presOf" srcId="{DCC55CFB-60B5-4481-9A59-F0C884BBDB47}" destId="{13486D09-2BA3-496E-A011-68A2A2D3C976}" srcOrd="0" destOrd="0" presId="urn:microsoft.com/office/officeart/2005/8/layout/hProcess9"/>
    <dgm:cxn modelId="{23A85289-B77F-4D80-A7F5-A15DE80284A0}" type="presOf" srcId="{63DA9588-22A2-47F0-81AF-4B91B01C5245}" destId="{1E67ABB2-18EE-4A29-8AF8-405DA6D2EF27}" srcOrd="0" destOrd="0" presId="urn:microsoft.com/office/officeart/2005/8/layout/hProcess9"/>
    <dgm:cxn modelId="{13D2A9E7-F5C0-40A7-AE52-565C9228431B}" type="presOf" srcId="{206DC72B-EBA3-4497-B270-9BD7EEE5D829}" destId="{4A854FF8-4A5B-4AAC-B6AB-FC8CE670A7BE}" srcOrd="0" destOrd="0" presId="urn:microsoft.com/office/officeart/2005/8/layout/hProcess9"/>
    <dgm:cxn modelId="{01A4B0F4-A4B2-4FF4-8722-716DF7306806}" type="presOf" srcId="{BA0FB1A9-A3D3-484A-AE8F-F3BA26299752}" destId="{1E982A2C-2617-45CF-917A-BFB28E2002F1}" srcOrd="0" destOrd="0" presId="urn:microsoft.com/office/officeart/2005/8/layout/hProcess9"/>
    <dgm:cxn modelId="{A747AEB7-A556-4726-8191-A76E2139B8FC}" type="presParOf" srcId="{1E982A2C-2617-45CF-917A-BFB28E2002F1}" destId="{9A34866E-0105-4E33-B8E4-4651EDF3EF35}" srcOrd="0" destOrd="0" presId="urn:microsoft.com/office/officeart/2005/8/layout/hProcess9"/>
    <dgm:cxn modelId="{433927A3-E509-4A0D-B564-238DA8C0B180}" type="presParOf" srcId="{1E982A2C-2617-45CF-917A-BFB28E2002F1}" destId="{D35EEB5D-446D-4569-9BB5-4FA7536D83C5}" srcOrd="1" destOrd="0" presId="urn:microsoft.com/office/officeart/2005/8/layout/hProcess9"/>
    <dgm:cxn modelId="{C67E8998-7F98-4FF0-8AC3-222BA2F53E92}" type="presParOf" srcId="{D35EEB5D-446D-4569-9BB5-4FA7536D83C5}" destId="{13486D09-2BA3-496E-A011-68A2A2D3C976}" srcOrd="0" destOrd="0" presId="urn:microsoft.com/office/officeart/2005/8/layout/hProcess9"/>
    <dgm:cxn modelId="{2960E1AE-F2D1-4693-B545-C774C7127F21}" type="presParOf" srcId="{D35EEB5D-446D-4569-9BB5-4FA7536D83C5}" destId="{43DACD08-A557-4B1F-9B42-3A40C12680D9}" srcOrd="1" destOrd="0" presId="urn:microsoft.com/office/officeart/2005/8/layout/hProcess9"/>
    <dgm:cxn modelId="{CF38ADBD-EC4E-4DF2-8FAD-FAB85EECBBAD}" type="presParOf" srcId="{D35EEB5D-446D-4569-9BB5-4FA7536D83C5}" destId="{025BD849-0002-430C-AF0A-29434BFBFC6F}" srcOrd="2" destOrd="0" presId="urn:microsoft.com/office/officeart/2005/8/layout/hProcess9"/>
    <dgm:cxn modelId="{1069FD25-F612-4369-9BD4-BE3B7E3AA41A}" type="presParOf" srcId="{D35EEB5D-446D-4569-9BB5-4FA7536D83C5}" destId="{5A254970-64F0-47BB-B6A1-44D48AAE0A5B}" srcOrd="3" destOrd="0" presId="urn:microsoft.com/office/officeart/2005/8/layout/hProcess9"/>
    <dgm:cxn modelId="{164DE9B2-6240-438F-BC0C-B6023178C094}" type="presParOf" srcId="{D35EEB5D-446D-4569-9BB5-4FA7536D83C5}" destId="{F4B8FA05-D34D-42FF-908C-7AE28E1B6B64}" srcOrd="4" destOrd="0" presId="urn:microsoft.com/office/officeart/2005/8/layout/hProcess9"/>
    <dgm:cxn modelId="{728B919B-DAED-44CD-B23C-F73A5EDDF086}" type="presParOf" srcId="{D35EEB5D-446D-4569-9BB5-4FA7536D83C5}" destId="{D169FA98-6DE8-4067-8113-1333AFFCDB77}" srcOrd="5" destOrd="0" presId="urn:microsoft.com/office/officeart/2005/8/layout/hProcess9"/>
    <dgm:cxn modelId="{ABA4AC45-1140-4945-8055-4E9828675352}" type="presParOf" srcId="{D35EEB5D-446D-4569-9BB5-4FA7536D83C5}" destId="{1E67ABB2-18EE-4A29-8AF8-405DA6D2EF27}" srcOrd="6" destOrd="0" presId="urn:microsoft.com/office/officeart/2005/8/layout/hProcess9"/>
    <dgm:cxn modelId="{B76F039F-5897-4F9D-99A1-E5218329E2C6}" type="presParOf" srcId="{D35EEB5D-446D-4569-9BB5-4FA7536D83C5}" destId="{B2430DE7-426E-4F72-91EE-79FE7029E6FB}" srcOrd="7" destOrd="0" presId="urn:microsoft.com/office/officeart/2005/8/layout/hProcess9"/>
    <dgm:cxn modelId="{EF220518-3E1F-4857-AE09-F1EEF7A8D352}" type="presParOf" srcId="{D35EEB5D-446D-4569-9BB5-4FA7536D83C5}" destId="{4A854FF8-4A5B-4AAC-B6AB-FC8CE670A7BE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4866E-0105-4E33-B8E4-4651EDF3EF35}">
      <dsp:nvSpPr>
        <dsp:cNvPr id="0" name=""/>
        <dsp:cNvSpPr/>
      </dsp:nvSpPr>
      <dsp:spPr>
        <a:xfrm>
          <a:off x="25744" y="0"/>
          <a:ext cx="9481263" cy="314353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3486D09-2BA3-496E-A011-68A2A2D3C976}">
      <dsp:nvSpPr>
        <dsp:cNvPr id="0" name=""/>
        <dsp:cNvSpPr/>
      </dsp:nvSpPr>
      <dsp:spPr>
        <a:xfrm>
          <a:off x="3531" y="876964"/>
          <a:ext cx="2075881" cy="138960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Plan the system</a:t>
          </a:r>
          <a:endParaRPr lang="en-IN" sz="3100" kern="1200" dirty="0"/>
        </a:p>
      </dsp:txBody>
      <dsp:txXfrm>
        <a:off x="71366" y="944799"/>
        <a:ext cx="1940211" cy="1253935"/>
      </dsp:txXfrm>
    </dsp:sp>
    <dsp:sp modelId="{025BD849-0002-430C-AF0A-29434BFBFC6F}">
      <dsp:nvSpPr>
        <dsp:cNvPr id="0" name=""/>
        <dsp:cNvSpPr/>
      </dsp:nvSpPr>
      <dsp:spPr>
        <a:xfrm>
          <a:off x="2271402" y="943060"/>
          <a:ext cx="2075881" cy="125741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Set up hardware</a:t>
          </a:r>
          <a:endParaRPr lang="en-IN" sz="3100" kern="1200" dirty="0"/>
        </a:p>
      </dsp:txBody>
      <dsp:txXfrm>
        <a:off x="2332784" y="1004442"/>
        <a:ext cx="1953117" cy="1134649"/>
      </dsp:txXfrm>
    </dsp:sp>
    <dsp:sp modelId="{F4B8FA05-D34D-42FF-908C-7AE28E1B6B64}">
      <dsp:nvSpPr>
        <dsp:cNvPr id="0" name=""/>
        <dsp:cNvSpPr/>
      </dsp:nvSpPr>
      <dsp:spPr>
        <a:xfrm>
          <a:off x="4619530" y="893618"/>
          <a:ext cx="2075881" cy="125741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Build software</a:t>
          </a:r>
          <a:endParaRPr lang="en-IN" sz="3100" kern="1200" dirty="0"/>
        </a:p>
      </dsp:txBody>
      <dsp:txXfrm>
        <a:off x="4680912" y="955000"/>
        <a:ext cx="1953117" cy="1134649"/>
      </dsp:txXfrm>
    </dsp:sp>
    <dsp:sp modelId="{1E67ABB2-18EE-4A29-8AF8-405DA6D2EF27}">
      <dsp:nvSpPr>
        <dsp:cNvPr id="0" name=""/>
        <dsp:cNvSpPr/>
      </dsp:nvSpPr>
      <dsp:spPr>
        <a:xfrm>
          <a:off x="6807143" y="943060"/>
          <a:ext cx="2075881" cy="125741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Test the system</a:t>
          </a:r>
          <a:endParaRPr lang="en-IN" sz="3100" kern="1200" dirty="0"/>
        </a:p>
      </dsp:txBody>
      <dsp:txXfrm>
        <a:off x="6868525" y="1004442"/>
        <a:ext cx="1953117" cy="1134649"/>
      </dsp:txXfrm>
    </dsp:sp>
    <dsp:sp modelId="{4A854FF8-4A5B-4AAC-B6AB-FC8CE670A7BE}">
      <dsp:nvSpPr>
        <dsp:cNvPr id="0" name=""/>
        <dsp:cNvSpPr/>
      </dsp:nvSpPr>
      <dsp:spPr>
        <a:xfrm>
          <a:off x="9078546" y="993444"/>
          <a:ext cx="2075881" cy="125741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Maintain &amp; Monitor</a:t>
          </a:r>
        </a:p>
      </dsp:txBody>
      <dsp:txXfrm>
        <a:off x="9139928" y="1054826"/>
        <a:ext cx="1953117" cy="1134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9608-15AE-4817-B806-7B0D685C0C1F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E7840-7A19-4EEC-B583-059467DB1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8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E7840-7A19-4EEC-B583-059467DB1D9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852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E7840-7A19-4EEC-B583-059467DB1D9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38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E7840-7A19-4EEC-B583-059467DB1D9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94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EECE-AEB5-CFA5-D6DC-5A6FEE15B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FBA38-5D2F-529D-FE91-2AEAD588F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CD080-8A0E-31CA-9B39-DC6103BC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76659-0372-49D4-85AE-26A44C768997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5EE6-55DD-F2F1-5D7F-3D7B2F36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C54FB-82B7-8F7D-BC77-04E98B74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0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2EB5-83A9-A25F-959A-8E9FBDA9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0278-529E-1DED-DBB2-3BB7FB95A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63F1-C123-7AEC-F02C-2C0B4421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FA9E-7726-44F8-A5B8-0175B8389268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8C6C-48A9-D3C4-D1E5-01D59CDD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61216-2D98-75AD-9CD0-AE2A77FB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98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2486-61A5-4EE2-DD30-FDF7404B2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E5F6A-6D92-4635-BA4C-3222329B2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69EE4-6741-87A8-56C9-D4872588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972FD-0FCF-4F0B-BF62-8F29280F46B7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514A-09A6-8687-F946-7BDE0F9B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AC293-9076-42ED-E067-F334C0A49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32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201F-567B-299E-A8CE-D0BA81DF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C844-B13C-0BC5-2223-EC582110E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9C9B3-0EF8-8D2B-554C-22F94E184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9C48F-4B6C-7239-5647-18E29575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F344-F240-4FAC-A718-641A73BC4482}" type="datetime1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33B48-8868-5A19-FB04-6809982B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68B9B-7E84-CB04-5437-BDDFC24E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9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9ECB-0799-61B0-AB3A-26E8EBA5A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06669-A8E4-A25E-DF6F-88ADBD5CA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8B146-B5F0-6B8E-B763-1B65DB4A0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EC9E7-D5E6-A2F7-8160-61A0F2713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94D31-6C23-9DC0-AFF4-D3ADE9634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6BF62-6E03-82E8-C5E3-EA24C3F0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354F-289D-49D4-BBDE-0F24E0C96F83}" type="datetime1">
              <a:rPr lang="en-IN" smtClean="0"/>
              <a:t>09-04-2025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D0394-525E-60D8-9457-8884E248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DCE93-6C5F-B296-3AF6-13AB85C1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8F89-029F-3CF7-3C1A-2E2AC918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5D9C0-A600-D1E3-93FC-4EF887A5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CD34-263B-419A-A4A7-24A9D7325571}" type="datetime1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92ECF-3D75-D56D-A71B-D179126E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10774-BA73-68FE-2A9B-C00788A9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4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4D522-A2DC-1FC7-B470-735BE433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2E710-5D84-601D-F0F3-A838BE85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83C4F-FD48-94D7-3EA0-9093E608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0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A0A2-21CD-81AC-E149-C943BCAD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F39CB-B34E-A7A5-3969-600C6412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1A7AC-1109-8B5B-AF98-E89EA968B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CABE9-D0FC-500D-CBB4-BD4B5C8C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88F8B-4197-4A87-831F-821617D0C20A}" type="datetime1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9AD07-0860-F28B-FDD4-4450E461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844AA-CAE4-B14D-F1E0-0CC1E36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2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8C65-DBFF-9B28-30D9-182EEBC8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9F39C4-35CD-060A-ACDD-53D1F20D2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51334-DAA7-671F-C5B2-31E91E434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6AFC5-D984-88AF-8EA2-2F40FE59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4A0B9-7F4E-4904-B30A-CF9753ED8D29}" type="datetime1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B7208-3220-D133-5365-0BC4770E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26579-1922-BD9B-B0D8-E3A73CC1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8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6047-0E99-56B5-5DC1-ED92F43E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14F62-7E11-C737-A24B-FA72B8706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8EBA9-DB14-06D3-E2FC-DBF6370A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D938-8FA1-4F8D-B273-74585233B8DA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4DC6-A8EE-A928-2538-54D32E06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87453-93CC-514C-8E71-FB92C68F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9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CE32A-D1BB-6A58-99B4-2227FCEB5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0960A-7EF7-9480-CE3F-29949280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619E-282D-8035-D810-8C3635627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3785-1E1B-4831-9781-32607096251A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E730-8F40-A0B4-EF3F-4B60D060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FDAA-A419-2EBA-15DB-BF6B6E50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41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C0F45-9223-3D2F-4A69-92DBEF32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D1323-2200-1177-60F1-0A4A41F2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E02C7-9FC8-5A8D-C269-2C07472ED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1902D-DEAF-4410-B92C-BAB20E0D0901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28DC4-869B-04CA-0C9D-5E15095E4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DA5C4-6E24-43C6-84C7-3190CC404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E0DF4-1BEF-4759-8B6D-FD28CA610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4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78F4C-F15B-8368-7E90-6F27FABA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6B59D-6911-539B-4EC6-31DA169E3CCF}"/>
              </a:ext>
            </a:extLst>
          </p:cNvPr>
          <p:cNvSpPr txBox="1"/>
          <p:nvPr/>
        </p:nvSpPr>
        <p:spPr>
          <a:xfrm>
            <a:off x="118333" y="502036"/>
            <a:ext cx="11607502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/>
              <a:t>SUSTAINABLE CITIES AND COMMUNITIES</a:t>
            </a:r>
            <a:endParaRPr lang="en-IN" sz="2000" b="1" dirty="0"/>
          </a:p>
          <a:p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  <a:p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ZenNex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 Name:                               Mentor NAME:                   </a:t>
            </a:r>
          </a:p>
          <a:p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Akshay V -  ECE 2</a:t>
            </a:r>
            <a:r>
              <a:rPr lang="en-US" sz="2400" b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                   Dr . N. Vikram (Assistant Professor ECE ) </a:t>
            </a:r>
          </a:p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Elaiyachandru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ECE 2</a:t>
            </a:r>
            <a:r>
              <a:rPr lang="en-US" sz="2400" b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                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Vishaal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S- ECE 2</a:t>
            </a:r>
            <a:r>
              <a:rPr lang="en-US" sz="2400" b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Isaac C K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 ECE   2</a:t>
            </a:r>
            <a:r>
              <a:rPr lang="en-US" sz="2400" b="1" baseline="300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Project Title :  Smart Trash Management System</a:t>
            </a:r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32216B-73B1-A767-7DAE-10735BCC53ED}"/>
              </a:ext>
            </a:extLst>
          </p:cNvPr>
          <p:cNvCxnSpPr/>
          <p:nvPr/>
        </p:nvCxnSpPr>
        <p:spPr>
          <a:xfrm>
            <a:off x="4787152" y="2654450"/>
            <a:ext cx="0" cy="2011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17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45CEF-097D-FB4D-62BF-719C4CBE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DBE70-4808-458A-64C7-2C42801D0BE3}"/>
              </a:ext>
            </a:extLst>
          </p:cNvPr>
          <p:cNvSpPr txBox="1"/>
          <p:nvPr/>
        </p:nvSpPr>
        <p:spPr>
          <a:xfrm>
            <a:off x="5787614" y="1333947"/>
            <a:ext cx="6404387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🚮</a:t>
            </a:r>
            <a:r>
              <a:rPr lang="en-US" sz="2400" dirty="0"/>
              <a:t>The smart waste management system warns municipal waste collectors when garbage is full, ensuring prompt collection. </a:t>
            </a:r>
          </a:p>
          <a:p>
            <a:endParaRPr lang="en-US" sz="2400" dirty="0"/>
          </a:p>
          <a:p>
            <a:r>
              <a:rPr lang="en-US" sz="2400" dirty="0"/>
              <a:t>🚮 Utilizes GPS and sensors to detect  bin status and applies Dijkstra’s algorithm to compute the shortest route, optimizing waste collection by including nearby partially filled bins.</a:t>
            </a:r>
          </a:p>
          <a:p>
            <a:endParaRPr lang="en-US" sz="2400" dirty="0"/>
          </a:p>
          <a:p>
            <a:r>
              <a:rPr lang="en-US" sz="2400" dirty="0"/>
              <a:t>🚮 A web platform allows enabling users to report civic issues via voice/text input and view real-time smart bin status using IOT  integration and geolocation services</a:t>
            </a:r>
          </a:p>
          <a:p>
            <a:endParaRPr lang="en-US" sz="24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74AAC-DDEB-DBB9-7CF7-6A319C14CF1F}"/>
              </a:ext>
            </a:extLst>
          </p:cNvPr>
          <p:cNvSpPr txBox="1"/>
          <p:nvPr/>
        </p:nvSpPr>
        <p:spPr>
          <a:xfrm>
            <a:off x="2592593" y="251019"/>
            <a:ext cx="6548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 Overview </a:t>
            </a:r>
            <a:endParaRPr lang="en-IN" sz="3600" dirty="0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AFC2D32C-7B6D-BD77-50F7-A03603FF3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761"/>
            <a:ext cx="5531005" cy="584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4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A8B85-9176-A7C1-B254-82AEE404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939" y="581539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Target </a:t>
            </a:r>
            <a:r>
              <a:rPr lang="en-US" sz="3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Beneficiaries</a:t>
            </a:r>
            <a:r>
              <a:rPr lang="en-US" sz="3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         Social/Economic/Technological</a:t>
            </a:r>
            <a:r>
              <a:rPr lang="en-US" sz="3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br>
              <a:rPr lang="en-IN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9BBE5-363F-3501-53AB-42AFECADE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11" y="23806"/>
            <a:ext cx="6306998" cy="90018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🚮    “By cleaning the garbage regularly , we can reduce mosquito breading and prevent diseases like dengue and malaria”. </a:t>
            </a:r>
          </a:p>
          <a:p>
            <a:pPr marL="0" indent="0">
              <a:buNone/>
            </a:pPr>
            <a:r>
              <a:rPr lang="en-US" sz="2400" dirty="0"/>
              <a:t>🚮    It also helps reduce foul smells and improves the overall air quality in the area .</a:t>
            </a:r>
          </a:p>
          <a:p>
            <a:pPr marL="0" indent="0">
              <a:buNone/>
            </a:pPr>
            <a:r>
              <a:rPr lang="en-US" sz="2400" dirty="0"/>
              <a:t>🚮    “it helps the municipal collector save time by showing which bins are full so they don’t have to check every bin manually”.</a:t>
            </a:r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633A-BFB3-6A25-FCE8-A763D314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47" y="6469069"/>
            <a:ext cx="2743200" cy="365125"/>
          </a:xfrm>
        </p:spPr>
        <p:txBody>
          <a:bodyPr/>
          <a:lstStyle/>
          <a:p>
            <a:fld id="{19D0BB1B-F335-4C91-BD7D-21ED02A1C297}" type="datetime1">
              <a:rPr lang="en-IN" smtClean="0"/>
              <a:t>09-04-2025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735447-2C2A-4102-5C1A-18E878A3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150" y="2508070"/>
            <a:ext cx="5285590" cy="394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1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65A04-5BA0-1123-5CF7-AFA48CD3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1C11B4-E7B7-FCFC-3EEA-60B20CCA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72004"/>
            <a:ext cx="3450552" cy="31922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044CF4-37C7-3091-92DA-5076093F0930}"/>
              </a:ext>
            </a:extLst>
          </p:cNvPr>
          <p:cNvSpPr txBox="1"/>
          <p:nvPr/>
        </p:nvSpPr>
        <p:spPr>
          <a:xfrm>
            <a:off x="2173045" y="494853"/>
            <a:ext cx="7648687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INTELLIGENT E-WASTE DETECTION SYSTEM AND COLLECTION USING HYBRID ROUTING TECHNIQUES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8EEC0-42B3-5DD2-A548-ACDEE19AB943}"/>
              </a:ext>
            </a:extLst>
          </p:cNvPr>
          <p:cNvSpPr txBox="1"/>
          <p:nvPr/>
        </p:nvSpPr>
        <p:spPr>
          <a:xfrm>
            <a:off x="3699164" y="1600201"/>
            <a:ext cx="841663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connected to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microcontroller. The connections are configured as follows: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to measure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of garbage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bin by calculating the distance between the sensor and the garbage. This helps in determining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the bin filled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Sensor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Detects the presence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 gases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bad odor from the garbage, indicating the level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presence of hazardous materials.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data from both sensors and sends it to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Blynk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Users can view the real-time garbage fill level and gas concentration data from the IoT dashboard.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setup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waste levels, making garbage collection more efficient and environmentally friendly.</a:t>
            </a:r>
          </a:p>
        </p:txBody>
      </p:sp>
    </p:spTree>
    <p:extLst>
      <p:ext uri="{BB962C8B-B14F-4D97-AF65-F5344CB8AC3E}">
        <p14:creationId xmlns:p14="http://schemas.microsoft.com/office/powerpoint/2010/main" val="362908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6">
            <a:extLst>
              <a:ext uri="{FF2B5EF4-FFF2-40B4-BE49-F238E27FC236}">
                <a16:creationId xmlns:a16="http://schemas.microsoft.com/office/drawing/2014/main" id="{F2506A42-0F8F-4ECE-994E-926DA8615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3" y="952230"/>
            <a:ext cx="4643055" cy="49535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95A2BF-269A-4A83-822A-5D5FB5747C47}"/>
              </a:ext>
            </a:extLst>
          </p:cNvPr>
          <p:cNvSpPr/>
          <p:nvPr/>
        </p:nvSpPr>
        <p:spPr>
          <a:xfrm>
            <a:off x="5240483" y="501687"/>
            <a:ext cx="650124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🚮 </a:t>
            </a:r>
            <a:r>
              <a:rPr lang="en-US" b="1" dirty="0"/>
              <a:t>Communication Flow to Government (Municipality):</a:t>
            </a:r>
          </a:p>
          <a:p>
            <a:r>
              <a:rPr lang="en-US" dirty="0"/>
              <a:t>The system </a:t>
            </a:r>
            <a:r>
              <a:rPr lang="en-US" b="1" dirty="0"/>
              <a:t>automatically sends notifications</a:t>
            </a:r>
            <a:r>
              <a:rPr lang="en-US" dirty="0"/>
              <a:t> to the municipal authorities (manager/administration) when:</a:t>
            </a:r>
          </a:p>
          <a:p>
            <a:pPr lvl="1"/>
            <a:r>
              <a:rPr lang="en-US" dirty="0"/>
              <a:t>A bin’s fill level exceeds 80%.</a:t>
            </a:r>
          </a:p>
          <a:p>
            <a:pPr lvl="1"/>
            <a:r>
              <a:rPr lang="en-US" dirty="0"/>
              <a:t>A user lodges a complaint through the web platform (via </a:t>
            </a:r>
            <a:r>
              <a:rPr lang="en-US" b="1" dirty="0"/>
              <a:t>voice or text input</a:t>
            </a:r>
            <a:r>
              <a:rPr lang="en-US" dirty="0"/>
              <a:t>).</a:t>
            </a:r>
          </a:p>
          <a:p>
            <a:r>
              <a:rPr lang="en-US" dirty="0"/>
              <a:t>These messages are sent via:</a:t>
            </a:r>
          </a:p>
          <a:p>
            <a:pPr lvl="1"/>
            <a:r>
              <a:rPr lang="en-US" b="1" dirty="0"/>
              <a:t>Email notifications</a:t>
            </a:r>
            <a:r>
              <a:rPr lang="en-US" dirty="0"/>
              <a:t>, </a:t>
            </a:r>
            <a:r>
              <a:rPr lang="en-US" b="1" dirty="0"/>
              <a:t>SMS alerts</a:t>
            </a:r>
            <a:r>
              <a:rPr lang="en-US" dirty="0"/>
              <a:t>, or </a:t>
            </a:r>
            <a:r>
              <a:rPr lang="en-US" b="1" dirty="0"/>
              <a:t>dashboard updates</a:t>
            </a:r>
            <a:r>
              <a:rPr lang="en-US" dirty="0"/>
              <a:t> integrated into the </a:t>
            </a:r>
            <a:r>
              <a:rPr lang="en-US" b="1" dirty="0"/>
              <a:t>admin panel</a:t>
            </a:r>
            <a:r>
              <a:rPr lang="en-US" dirty="0"/>
              <a:t> of the web platform.</a:t>
            </a:r>
          </a:p>
          <a:p>
            <a:pPr lvl="1"/>
            <a:r>
              <a:rPr lang="en-US" dirty="0"/>
              <a:t>Real-time status updates are logged and visible to officials using </a:t>
            </a:r>
            <a:r>
              <a:rPr lang="en-US" b="1" dirty="0"/>
              <a:t>IoT dashboards with geolocation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0B1C6-9E7E-40FF-BE8D-94E6D89C19AC}"/>
              </a:ext>
            </a:extLst>
          </p:cNvPr>
          <p:cNvSpPr/>
          <p:nvPr/>
        </p:nvSpPr>
        <p:spPr>
          <a:xfrm>
            <a:off x="5240483" y="3857316"/>
            <a:ext cx="67185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🚮 </a:t>
            </a:r>
            <a:r>
              <a:rPr lang="en-US" b="1" dirty="0"/>
              <a:t>Communication to Garbage Collectors:</a:t>
            </a:r>
          </a:p>
          <a:p>
            <a:r>
              <a:rPr lang="en-US" dirty="0"/>
              <a:t>After applying </a:t>
            </a:r>
            <a:r>
              <a:rPr lang="en-US" b="1" dirty="0"/>
              <a:t>Dijkstra’s algorithm</a:t>
            </a:r>
            <a:r>
              <a:rPr lang="en-US" dirty="0"/>
              <a:t>, the system determines the </a:t>
            </a:r>
            <a:r>
              <a:rPr lang="en-US" b="1" dirty="0"/>
              <a:t>shortest and most efficient route</a:t>
            </a:r>
            <a:r>
              <a:rPr lang="en-US" dirty="0"/>
              <a:t> to the bins that are over 80% filled.</a:t>
            </a:r>
          </a:p>
          <a:p>
            <a:r>
              <a:rPr lang="en-US" dirty="0"/>
              <a:t>This optimized route, along with the bin locations, is:</a:t>
            </a:r>
          </a:p>
          <a:p>
            <a:pPr lvl="1"/>
            <a:r>
              <a:rPr lang="en-US" dirty="0"/>
              <a:t>Displayed on the </a:t>
            </a:r>
            <a:r>
              <a:rPr lang="en-US" b="1" dirty="0"/>
              <a:t>collector's dashboard or mobile app</a:t>
            </a:r>
            <a:r>
              <a:rPr lang="en-US" dirty="0"/>
              <a:t> using a </a:t>
            </a:r>
            <a:r>
              <a:rPr lang="en-US" b="1" dirty="0"/>
              <a:t>map interface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Sent as a </a:t>
            </a:r>
            <a:r>
              <a:rPr lang="en-US" b="1" dirty="0"/>
              <a:t>notification with GPS directions</a:t>
            </a:r>
            <a:r>
              <a:rPr lang="en-US" dirty="0"/>
              <a:t>, ensuring timely and efficient collection.</a:t>
            </a:r>
          </a:p>
          <a:p>
            <a:r>
              <a:rPr lang="en-US" dirty="0"/>
              <a:t>Collectors can also </a:t>
            </a:r>
            <a:r>
              <a:rPr lang="en-US" b="1" dirty="0"/>
              <a:t>update status</a:t>
            </a:r>
            <a:r>
              <a:rPr lang="en-US" dirty="0"/>
              <a:t> (e.g., bin emptied) through their interface, syncing in real time.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35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1EA22-63B7-4B58-A7EB-64E557C1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pic>
        <p:nvPicPr>
          <p:cNvPr id="3" name="Picture 4" descr="Sensoneo: Europe's Largest Smart Waste Installation takes shape | WMW">
            <a:extLst>
              <a:ext uri="{FF2B5EF4-FFF2-40B4-BE49-F238E27FC236}">
                <a16:creationId xmlns:a16="http://schemas.microsoft.com/office/drawing/2014/main" id="{C9D44DB8-0EB2-4635-8029-726F6E9A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36525"/>
            <a:ext cx="4739592" cy="405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4B2C8ED-4400-4478-9059-2C6ED16BEE8D}"/>
              </a:ext>
            </a:extLst>
          </p:cNvPr>
          <p:cNvSpPr/>
          <p:nvPr/>
        </p:nvSpPr>
        <p:spPr>
          <a:xfrm>
            <a:off x="5030536" y="566678"/>
            <a:ext cx="704716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🚮</a:t>
            </a:r>
            <a:r>
              <a:rPr lang="en-US" b="1" dirty="0"/>
              <a:t> User Access to the Web Platform:</a:t>
            </a:r>
          </a:p>
          <a:p>
            <a:pPr algn="just"/>
            <a:r>
              <a:rPr lang="en-US" dirty="0"/>
              <a:t>Users can access the platform through a </a:t>
            </a:r>
            <a:r>
              <a:rPr lang="en-US" b="1" dirty="0"/>
              <a:t>web browser</a:t>
            </a:r>
            <a:r>
              <a:rPr lang="en-US" dirty="0"/>
              <a:t> on their phone or computer.</a:t>
            </a:r>
          </a:p>
          <a:p>
            <a:pPr algn="just"/>
            <a:r>
              <a:rPr lang="en-US" dirty="0"/>
              <a:t>Features include:</a:t>
            </a:r>
          </a:p>
          <a:p>
            <a:pPr lvl="1" algn="just"/>
            <a:r>
              <a:rPr lang="en-US" b="1" dirty="0"/>
              <a:t>Real-time view</a:t>
            </a:r>
            <a:r>
              <a:rPr lang="en-US" dirty="0"/>
              <a:t> of nearby smart bins and their status.</a:t>
            </a:r>
          </a:p>
          <a:p>
            <a:pPr lvl="1" algn="just"/>
            <a:r>
              <a:rPr lang="en-US" dirty="0"/>
              <a:t>Option to </a:t>
            </a:r>
            <a:r>
              <a:rPr lang="en-US" b="1" dirty="0"/>
              <a:t>report civic issues or garbage overflow</a:t>
            </a:r>
            <a:r>
              <a:rPr lang="en-US" dirty="0"/>
              <a:t> using </a:t>
            </a:r>
            <a:r>
              <a:rPr lang="en-US" b="1" dirty="0"/>
              <a:t>voice or text input</a:t>
            </a:r>
            <a:r>
              <a:rPr lang="en-US" dirty="0"/>
              <a:t>.</a:t>
            </a:r>
          </a:p>
          <a:p>
            <a:pPr lvl="1" algn="just"/>
            <a:r>
              <a:rPr lang="en-US" b="1" dirty="0"/>
              <a:t>Geolocation services</a:t>
            </a:r>
            <a:r>
              <a:rPr lang="en-US" dirty="0"/>
              <a:t> help identify their current area for better accuracy in complaints.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algn="just"/>
            <a:r>
              <a:rPr lang="en-US" dirty="0"/>
              <a:t> 🚮 </a:t>
            </a:r>
            <a:r>
              <a:rPr lang="en-US" b="1" dirty="0"/>
              <a:t>Data Collection for Future Research and Analysis:</a:t>
            </a:r>
          </a:p>
          <a:p>
            <a:pPr algn="just"/>
            <a:r>
              <a:rPr lang="en-US" dirty="0"/>
              <a:t>All sensor data (bin fill levels, gas presence, timestamps, collection routes, and user complaints) are </a:t>
            </a:r>
            <a:r>
              <a:rPr lang="en-US" b="1" dirty="0"/>
              <a:t>stored in a central database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This data helps in:</a:t>
            </a:r>
          </a:p>
          <a:p>
            <a:pPr lvl="1" algn="just"/>
            <a:r>
              <a:rPr lang="en-US" b="1" dirty="0"/>
              <a:t>Predictive analysis</a:t>
            </a:r>
            <a:r>
              <a:rPr lang="en-US" dirty="0"/>
              <a:t> of garbage generation patterns over time.</a:t>
            </a:r>
          </a:p>
          <a:p>
            <a:pPr lvl="1" algn="just"/>
            <a:r>
              <a:rPr lang="en-US" b="1" dirty="0"/>
              <a:t>Planning better waste management strategies</a:t>
            </a:r>
            <a:r>
              <a:rPr lang="en-US" dirty="0"/>
              <a:t> based on real usage.</a:t>
            </a:r>
          </a:p>
          <a:p>
            <a:pPr lvl="1" algn="just"/>
            <a:r>
              <a:rPr lang="en-US" dirty="0"/>
              <a:t>Supporting </a:t>
            </a:r>
            <a:r>
              <a:rPr lang="en-US" b="1" dirty="0"/>
              <a:t>research and development</a:t>
            </a:r>
            <a:r>
              <a:rPr lang="en-US" dirty="0"/>
              <a:t> in smart city planning, environmental monitoring, and sustainable urban management.</a:t>
            </a:r>
          </a:p>
          <a:p>
            <a:pPr lvl="1" algn="just"/>
            <a:r>
              <a:rPr lang="en-US" dirty="0"/>
              <a:t>Providing </a:t>
            </a:r>
            <a:r>
              <a:rPr lang="en-US" b="1" dirty="0"/>
              <a:t>insights to policy makers and researchers</a:t>
            </a:r>
            <a:r>
              <a:rPr lang="en-US" dirty="0"/>
              <a:t> for data-driven decisions.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88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5C048-1ADE-A942-AEAC-8E806156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Implementation Plan</a:t>
            </a:r>
            <a:b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EEA3E-3CF1-C01B-4B57-FAB97FB3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065" y="6492240"/>
            <a:ext cx="2743200" cy="365125"/>
          </a:xfrm>
        </p:spPr>
        <p:txBody>
          <a:bodyPr/>
          <a:lstStyle/>
          <a:p>
            <a:fld id="{1F93343A-4928-4900-A3DC-80114C39F7F9}" type="datetime1">
              <a:rPr lang="en-IN" smtClean="0"/>
              <a:t>09-04-2025</a:t>
            </a:fld>
            <a:endParaRPr lang="en-IN" dirty="0"/>
          </a:p>
        </p:txBody>
      </p:sp>
      <p:graphicFrame>
        <p:nvGraphicFramePr>
          <p:cNvPr id="29" name="Content Placeholder 28">
            <a:extLst>
              <a:ext uri="{FF2B5EF4-FFF2-40B4-BE49-F238E27FC236}">
                <a16:creationId xmlns:a16="http://schemas.microsoft.com/office/drawing/2014/main" id="{9C6B2E2D-E39B-56D4-29D9-AA9AD401E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855131"/>
              </p:ext>
            </p:extLst>
          </p:nvPr>
        </p:nvGraphicFramePr>
        <p:xfrm>
          <a:off x="517619" y="2704014"/>
          <a:ext cx="11154428" cy="3143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408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E7262-C470-82DF-9623-C14C4E5C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16903-98EB-47CF-9655-560C5E4C52A4}" type="datetime1">
              <a:rPr lang="en-IN" smtClean="0"/>
              <a:t>09-04-2025</a:t>
            </a:fld>
            <a:endParaRPr lang="en-IN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F82C72C-642D-FF68-5096-3A98C9E13499}"/>
              </a:ext>
            </a:extLst>
          </p:cNvPr>
          <p:cNvSpPr/>
          <p:nvPr/>
        </p:nvSpPr>
        <p:spPr>
          <a:xfrm>
            <a:off x="3216538" y="2331163"/>
            <a:ext cx="3076686" cy="1904104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Check for abnormality</a:t>
            </a:r>
            <a:endParaRPr lang="en-IN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5DF1BC-8622-6272-CE09-152AFBCBCE7A}"/>
              </a:ext>
            </a:extLst>
          </p:cNvPr>
          <p:cNvSpPr/>
          <p:nvPr/>
        </p:nvSpPr>
        <p:spPr>
          <a:xfrm>
            <a:off x="7193280" y="2787296"/>
            <a:ext cx="1785769" cy="97851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Continuous monitoring</a:t>
            </a:r>
            <a:endParaRPr lang="en-IN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886325-38FE-4062-0E10-44E3554ED885}"/>
              </a:ext>
            </a:extLst>
          </p:cNvPr>
          <p:cNvSpPr/>
          <p:nvPr/>
        </p:nvSpPr>
        <p:spPr>
          <a:xfrm>
            <a:off x="3355042" y="1555050"/>
            <a:ext cx="2799677" cy="57370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Check for gas emission</a:t>
            </a:r>
            <a:endParaRPr lang="en-IN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F4C55C-4F99-2B60-B326-C9119E6201EA}"/>
              </a:ext>
            </a:extLst>
          </p:cNvPr>
          <p:cNvSpPr/>
          <p:nvPr/>
        </p:nvSpPr>
        <p:spPr>
          <a:xfrm>
            <a:off x="3345629" y="403010"/>
            <a:ext cx="2799676" cy="72654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Get level of bin</a:t>
            </a:r>
            <a:endParaRPr lang="en-IN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693142-48D2-12AF-716F-25FA7084ED58}"/>
              </a:ext>
            </a:extLst>
          </p:cNvPr>
          <p:cNvSpPr/>
          <p:nvPr/>
        </p:nvSpPr>
        <p:spPr>
          <a:xfrm>
            <a:off x="515470" y="1331259"/>
            <a:ext cx="1625301" cy="5486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Ultrasonic sensor</a:t>
            </a:r>
            <a:endParaRPr lang="en-IN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AB54F5-5864-3938-FEAD-3C3ED320745F}"/>
              </a:ext>
            </a:extLst>
          </p:cNvPr>
          <p:cNvSpPr/>
          <p:nvPr/>
        </p:nvSpPr>
        <p:spPr>
          <a:xfrm>
            <a:off x="150608" y="2507800"/>
            <a:ext cx="2173046" cy="77328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Get data from sensors</a:t>
            </a:r>
            <a:endParaRPr lang="en-IN" sz="2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92EB3-6CC2-B572-7C4C-55D9E63B02AF}"/>
              </a:ext>
            </a:extLst>
          </p:cNvPr>
          <p:cNvSpPr/>
          <p:nvPr/>
        </p:nvSpPr>
        <p:spPr>
          <a:xfrm>
            <a:off x="363521" y="3812593"/>
            <a:ext cx="1539240" cy="7046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Gas sensors</a:t>
            </a:r>
            <a:endParaRPr lang="en-IN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A4AD79-15B0-18B7-6EA8-EA0A8464311D}"/>
              </a:ext>
            </a:extLst>
          </p:cNvPr>
          <p:cNvSpPr/>
          <p:nvPr/>
        </p:nvSpPr>
        <p:spPr>
          <a:xfrm>
            <a:off x="3019312" y="4739153"/>
            <a:ext cx="3470236" cy="98929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Find the nearest bin collecting </a:t>
            </a:r>
            <a:r>
              <a:rPr lang="en-US" sz="2000" dirty="0" err="1"/>
              <a:t>vechicle</a:t>
            </a:r>
            <a:r>
              <a:rPr lang="en-US" sz="2000" dirty="0"/>
              <a:t> sing(</a:t>
            </a:r>
            <a:r>
              <a:rPr lang="en-US" sz="2000" dirty="0" err="1"/>
              <a:t>vrp</a:t>
            </a:r>
            <a:r>
              <a:rPr lang="en-US" sz="2000" dirty="0"/>
              <a:t> algorithm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830A03-3F32-4D20-0F95-7A2D7CB429F1}"/>
              </a:ext>
            </a:extLst>
          </p:cNvPr>
          <p:cNvSpPr/>
          <p:nvPr/>
        </p:nvSpPr>
        <p:spPr>
          <a:xfrm>
            <a:off x="3345628" y="6163420"/>
            <a:ext cx="2947596" cy="69457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Sms</a:t>
            </a:r>
            <a:r>
              <a:rPr lang="en-US" sz="2000" dirty="0"/>
              <a:t> to garbage </a:t>
            </a:r>
            <a:r>
              <a:rPr lang="en-US" sz="2000" dirty="0" err="1"/>
              <a:t>vechicle</a:t>
            </a:r>
            <a:endParaRPr lang="en-IN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E995E8-8BAD-4576-AF96-41DA8AB78F6D}"/>
              </a:ext>
            </a:extLst>
          </p:cNvPr>
          <p:cNvSpPr/>
          <p:nvPr/>
        </p:nvSpPr>
        <p:spPr>
          <a:xfrm>
            <a:off x="7053436" y="5910617"/>
            <a:ext cx="3195917" cy="94738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Garbage </a:t>
            </a:r>
            <a:r>
              <a:rPr lang="en-US" sz="2000" dirty="0" err="1"/>
              <a:t>vechicle</a:t>
            </a:r>
            <a:r>
              <a:rPr lang="en-US" sz="2000" dirty="0"/>
              <a:t> reaches the destiny using </a:t>
            </a:r>
            <a:r>
              <a:rPr lang="en-US" sz="2000" dirty="0" err="1"/>
              <a:t>vrp</a:t>
            </a:r>
            <a:r>
              <a:rPr lang="en-US" sz="2000" dirty="0"/>
              <a:t> algorithm</a:t>
            </a:r>
            <a:endParaRPr lang="en-IN" sz="20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21F77B-15AA-DDA7-9816-908B1DF684F7}"/>
              </a:ext>
            </a:extLst>
          </p:cNvPr>
          <p:cNvCxnSpPr>
            <a:cxnSpLocks/>
            <a:stCxn id="7" idx="0"/>
            <a:endCxn id="9" idx="0"/>
          </p:cNvCxnSpPr>
          <p:nvPr/>
        </p:nvCxnSpPr>
        <p:spPr>
          <a:xfrm rot="16200000" flipV="1">
            <a:off x="5223673" y="-75196"/>
            <a:ext cx="2384286" cy="3340698"/>
          </a:xfrm>
          <a:prstGeom prst="bentConnector3">
            <a:avLst>
              <a:gd name="adj1" fmla="val 1095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63F9D1-5886-F6A9-1066-E6D77E59C80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293224" y="3276554"/>
            <a:ext cx="900056" cy="6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347BD7-AE7A-8C6B-FA6F-865E7F462C68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H="1" flipV="1">
            <a:off x="4745467" y="1129552"/>
            <a:ext cx="9414" cy="425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49F6369-8C23-F0F3-7A6D-D0EB953AA837}"/>
              </a:ext>
            </a:extLst>
          </p:cNvPr>
          <p:cNvCxnSpPr>
            <a:stCxn id="6" idx="0"/>
            <a:endCxn id="8" idx="2"/>
          </p:cNvCxnSpPr>
          <p:nvPr/>
        </p:nvCxnSpPr>
        <p:spPr>
          <a:xfrm flipV="1">
            <a:off x="4754881" y="2128759"/>
            <a:ext cx="0" cy="202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A98AE16-611C-F9C9-F821-ACD5C4DF041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328121" y="1879899"/>
            <a:ext cx="0" cy="627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8710BEC-B605-9D05-E4B8-C5899F3A52B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237131" y="3281081"/>
            <a:ext cx="0" cy="48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C40B8C6-C1E9-05A0-61BE-BD964B75A500}"/>
              </a:ext>
            </a:extLst>
          </p:cNvPr>
          <p:cNvCxnSpPr>
            <a:stCxn id="6" idx="2"/>
          </p:cNvCxnSpPr>
          <p:nvPr/>
        </p:nvCxnSpPr>
        <p:spPr>
          <a:xfrm flipH="1">
            <a:off x="4745467" y="4235267"/>
            <a:ext cx="9414" cy="503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05C1D63-8E5C-2E55-C0B2-3F528B7F07A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745467" y="5728448"/>
            <a:ext cx="8963" cy="503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E40273A-FDD2-4FAD-DDCE-288A5E4212AA}"/>
              </a:ext>
            </a:extLst>
          </p:cNvPr>
          <p:cNvCxnSpPr>
            <a:cxnSpLocks/>
          </p:cNvCxnSpPr>
          <p:nvPr/>
        </p:nvCxnSpPr>
        <p:spPr>
          <a:xfrm>
            <a:off x="6345894" y="6538912"/>
            <a:ext cx="707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5EB1E8E8-36B0-037B-AF07-2D2BD752B3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32144" y="4377714"/>
            <a:ext cx="1993492" cy="22124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207D9F8-F86A-EAFC-769A-4DE10D3B77C5}"/>
              </a:ext>
            </a:extLst>
          </p:cNvPr>
          <p:cNvCxnSpPr>
            <a:stCxn id="11" idx="3"/>
            <a:endCxn id="6" idx="1"/>
          </p:cNvCxnSpPr>
          <p:nvPr/>
        </p:nvCxnSpPr>
        <p:spPr>
          <a:xfrm>
            <a:off x="2323654" y="2894441"/>
            <a:ext cx="892884" cy="3887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54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831EB-3F89-9ADC-FDD0-8B2D7CAD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187" y="731906"/>
            <a:ext cx="9942716" cy="1554480"/>
          </a:xfrm>
        </p:spPr>
        <p:txBody>
          <a:bodyPr anchor="ctr">
            <a:normAutofit fontScale="90000"/>
          </a:bodyPr>
          <a:lstStyle/>
          <a:p>
            <a:r>
              <a:rPr lang="en-US" sz="3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Business Model &amp; Monetization</a:t>
            </a:r>
            <a:br>
              <a:rPr lang="en-IN" sz="3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dirty="0">
                <a:latin typeface="Arial" panose="020B0604020202020204" pitchFamily="34" charset="0"/>
              </a:rPr>
            </a:b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0A39-DC05-079E-2D40-CA24A27BA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AE547-65C9-A27A-CC65-3D2502B2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67" y="6469069"/>
            <a:ext cx="2743200" cy="365125"/>
          </a:xfrm>
        </p:spPr>
        <p:txBody>
          <a:bodyPr/>
          <a:lstStyle/>
          <a:p>
            <a:fld id="{F893BFA2-3D45-4F76-A1C8-378222532BAB}" type="datetime1">
              <a:rPr lang="en-IN" smtClean="0"/>
              <a:t>09-04-2025</a:t>
            </a:fld>
            <a:endParaRPr lang="en-I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F16585F-7ADE-F602-9566-C706CB4D3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83532"/>
              </p:ext>
            </p:extLst>
          </p:nvPr>
        </p:nvGraphicFramePr>
        <p:xfrm>
          <a:off x="731525" y="1890057"/>
          <a:ext cx="10816041" cy="5038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347">
                  <a:extLst>
                    <a:ext uri="{9D8B030D-6E8A-4147-A177-3AD203B41FA5}">
                      <a16:colId xmlns:a16="http://schemas.microsoft.com/office/drawing/2014/main" val="3001332412"/>
                    </a:ext>
                  </a:extLst>
                </a:gridCol>
                <a:gridCol w="3605347">
                  <a:extLst>
                    <a:ext uri="{9D8B030D-6E8A-4147-A177-3AD203B41FA5}">
                      <a16:colId xmlns:a16="http://schemas.microsoft.com/office/drawing/2014/main" val="3657669049"/>
                    </a:ext>
                  </a:extLst>
                </a:gridCol>
                <a:gridCol w="3605347">
                  <a:extLst>
                    <a:ext uri="{9D8B030D-6E8A-4147-A177-3AD203B41FA5}">
                      <a16:colId xmlns:a16="http://schemas.microsoft.com/office/drawing/2014/main" val="2478735145"/>
                    </a:ext>
                  </a:extLst>
                </a:gridCol>
              </a:tblGrid>
              <a:tr h="668658"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2000" dirty="0"/>
                        <a:t>Revenue System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Estimated % of Total Revenue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11936"/>
                  </a:ext>
                </a:extLst>
              </a:tr>
              <a:tr h="685627">
                <a:tc>
                  <a:txBody>
                    <a:bodyPr/>
                    <a:lstStyle/>
                    <a:p>
                      <a:r>
                        <a:rPr lang="en-IN" dirty="0"/>
                        <a:t>    Hardware Sales/Leasing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Smart bin units with sensors, GPS, solar modules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35%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021287"/>
                  </a:ext>
                </a:extLst>
              </a:tr>
              <a:tr h="685627">
                <a:tc>
                  <a:txBody>
                    <a:bodyPr/>
                    <a:lstStyle/>
                    <a:p>
                      <a:r>
                        <a:rPr lang="en-US" dirty="0"/>
                        <a:t>        SaaS Subscriptions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to the management platform (tiered by features/users)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25%             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53072"/>
                  </a:ext>
                </a:extLst>
              </a:tr>
              <a:tr h="941372">
                <a:tc>
                  <a:txBody>
                    <a:bodyPr/>
                    <a:lstStyle/>
                    <a:p>
                      <a:r>
                        <a:rPr lang="en-IN" dirty="0"/>
                        <a:t>     Maintenance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Ongoing service, firmware updates, support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15%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856138"/>
                  </a:ext>
                </a:extLst>
              </a:tr>
              <a:tr h="685627">
                <a:tc>
                  <a:txBody>
                    <a:bodyPr/>
                    <a:lstStyle/>
                    <a:p>
                      <a:r>
                        <a:rPr lang="en-US" dirty="0"/>
                        <a:t>         Route Optimization Licensing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Licensing digital</a:t>
                      </a:r>
                    </a:p>
                    <a:p>
                      <a:r>
                        <a:rPr lang="en-US" dirty="0"/>
                        <a:t>algorithms to 3rd parties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10%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231779"/>
                  </a:ext>
                </a:extLst>
              </a:tr>
              <a:tr h="685627">
                <a:tc>
                  <a:txBody>
                    <a:bodyPr/>
                    <a:lstStyle/>
                    <a:p>
                      <a:r>
                        <a:rPr lang="en-IN" dirty="0"/>
                        <a:t>Data Insights &amp;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Selling aggregated data to environmental and policy groups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15%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79988"/>
                  </a:ext>
                </a:extLst>
              </a:tr>
              <a:tr h="685627">
                <a:tc>
                  <a:txBody>
                    <a:bodyPr/>
                    <a:lstStyle/>
                    <a:p>
                      <a:r>
                        <a:rPr lang="en-IN" dirty="0"/>
                        <a:t>Sponsorship/Advertising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 local advertising/sponsorship revenue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32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6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04F55-5856-94FC-8218-A05C34A9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b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4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466C6-F7AF-88D4-2654-99160C6C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5" y="6469069"/>
            <a:ext cx="2743200" cy="365125"/>
          </a:xfrm>
        </p:spPr>
        <p:txBody>
          <a:bodyPr/>
          <a:lstStyle/>
          <a:p>
            <a:fld id="{9EE4055F-3247-4E25-AE4C-AC9FA231B50A}" type="datetime1">
              <a:rPr lang="en-IN" smtClean="0"/>
              <a:t>09-04-2025</a:t>
            </a:fld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F4B6FAE-BBF0-B83C-160E-424381E452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51C5E36F-714A-4398-9BD6-3189A8E0C6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3538" y="1090271"/>
            <a:ext cx="626893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Solar-Powered, Self-Sustained Units: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panel integration allows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in remote or off-grid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power concerns.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Data Handling: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 scale the system across cities using cloud platforms like AWS, Azure, or Firebase.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System Architecture: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bins, sensors, and users can be added without impacting existing functionality.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Multi-Role Access: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Expandable platform with roles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users, garbage collectors, municipal officers, and researchers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Nationwide Deployment Potential: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implemented across districts and scaled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smart waste management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&amp; Regional Support: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Voice/text features can be adapted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languages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accessibility across regions.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2DE4A17-A1A5-4B80-9F30-11DDE0BFA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63" y="948808"/>
            <a:ext cx="5422222" cy="5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76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9E7B-3516-438A-808F-18B38616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9" y="5419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Future Scope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840C5-2563-45DB-9332-FBFE9F2F0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16973"/>
            <a:ext cx="5257800" cy="534092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Integration with AI &amp; Machine Learning:</a:t>
            </a:r>
            <a:endParaRPr lang="en-US" dirty="0"/>
          </a:p>
          <a:p>
            <a:pPr lvl="1"/>
            <a:r>
              <a:rPr lang="en-US" dirty="0"/>
              <a:t>Predict future waste trends and optimize collection schedules using historical data.</a:t>
            </a:r>
          </a:p>
          <a:p>
            <a:pPr lvl="1"/>
            <a:r>
              <a:rPr lang="en-US" dirty="0"/>
              <a:t>Anomaly detection for unusual garbage patterns or illegal dumping.</a:t>
            </a:r>
          </a:p>
          <a:p>
            <a:r>
              <a:rPr lang="en-US" b="1" dirty="0"/>
              <a:t>Advanced Waste Categorization:</a:t>
            </a:r>
            <a:endParaRPr lang="en-US" dirty="0"/>
          </a:p>
          <a:p>
            <a:pPr lvl="1"/>
            <a:r>
              <a:rPr lang="en-US" dirty="0"/>
              <a:t>Incorporate </a:t>
            </a:r>
            <a:r>
              <a:rPr lang="en-US" b="1" dirty="0"/>
              <a:t>smart camera modules</a:t>
            </a:r>
            <a:r>
              <a:rPr lang="en-US" dirty="0"/>
              <a:t> to identify and classify types of waste (plastic, organic, etc.).</a:t>
            </a:r>
          </a:p>
          <a:p>
            <a:r>
              <a:rPr lang="en-US" b="1" dirty="0"/>
              <a:t>Citizen Engagement Tools:</a:t>
            </a:r>
            <a:endParaRPr lang="en-US" dirty="0"/>
          </a:p>
          <a:p>
            <a:pPr lvl="1"/>
            <a:r>
              <a:rPr lang="en-US" dirty="0"/>
              <a:t>Launch </a:t>
            </a:r>
            <a:r>
              <a:rPr lang="en-US" b="1" dirty="0"/>
              <a:t>mobile app</a:t>
            </a:r>
            <a:r>
              <a:rPr lang="en-US" dirty="0"/>
              <a:t> for improved user interaction, bin location tracking, and real-time complaint status.</a:t>
            </a:r>
          </a:p>
          <a:p>
            <a:pPr lvl="1"/>
            <a:r>
              <a:rPr lang="en-US" dirty="0"/>
              <a:t>Implement a </a:t>
            </a:r>
            <a:r>
              <a:rPr lang="en-US" b="1" dirty="0"/>
              <a:t>reward system</a:t>
            </a:r>
            <a:r>
              <a:rPr lang="en-US" dirty="0"/>
              <a:t> for users reporting issues or promoting cleanliness.</a:t>
            </a:r>
          </a:p>
          <a:p>
            <a:r>
              <a:rPr lang="en-US" b="1" dirty="0"/>
              <a:t>Environmental Monitoring:</a:t>
            </a:r>
            <a:endParaRPr lang="en-US" dirty="0"/>
          </a:p>
          <a:p>
            <a:pPr lvl="1"/>
            <a:r>
              <a:rPr lang="en-US" dirty="0"/>
              <a:t>Extend system to monitor </a:t>
            </a:r>
            <a:r>
              <a:rPr lang="en-US" b="1" dirty="0"/>
              <a:t>air quality</a:t>
            </a:r>
            <a:r>
              <a:rPr lang="en-US" dirty="0"/>
              <a:t>, </a:t>
            </a:r>
            <a:r>
              <a:rPr lang="en-US" b="1" dirty="0"/>
              <a:t>temperature</a:t>
            </a:r>
            <a:r>
              <a:rPr lang="en-US" dirty="0"/>
              <a:t>, and </a:t>
            </a:r>
            <a:r>
              <a:rPr lang="en-US" b="1" dirty="0"/>
              <a:t>humidity</a:t>
            </a:r>
            <a:r>
              <a:rPr lang="en-US" dirty="0"/>
              <a:t> around garbage bins using additional sensors.</a:t>
            </a:r>
          </a:p>
          <a:p>
            <a:r>
              <a:rPr lang="en-US" b="1" dirty="0"/>
              <a:t>Blockchain for Transparency:</a:t>
            </a:r>
            <a:endParaRPr lang="en-US" dirty="0"/>
          </a:p>
          <a:p>
            <a:pPr lvl="1"/>
            <a:r>
              <a:rPr lang="en-US" dirty="0"/>
              <a:t>Record waste data and complaint resolutions securely using blockchain for enhanced trust and accountability.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22FBD-C5F4-42FF-94F9-E210B948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FA9E-7726-44F8-A5B8-0175B8389268}" type="datetime1">
              <a:rPr lang="en-IN" smtClean="0"/>
              <a:t>09-04-2025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2EA04C-3F1F-4D1F-B6D5-5406E38B6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17" y="1527175"/>
            <a:ext cx="5853047" cy="425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6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3DD75-9E06-D37A-E2FF-60691E69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933" y="382993"/>
            <a:ext cx="10338041" cy="1300471"/>
          </a:xfrm>
        </p:spPr>
        <p:txBody>
          <a:bodyPr anchor="ctr">
            <a:normAutofit fontScale="90000"/>
          </a:bodyPr>
          <a:lstStyle/>
          <a:p>
            <a:r>
              <a:rPr lang="en-US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Conclusion &amp; Call to Action</a:t>
            </a:r>
            <a:b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</a:t>
            </a:r>
            <a:endParaRPr lang="en-IN" sz="4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B8EEB9-6DA7-6231-F8E5-B512EBD29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01" y="1683464"/>
            <a:ext cx="5845669" cy="4801849"/>
          </a:xfr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13BDE-34DA-DD25-9679-BE2E92BD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9069"/>
            <a:ext cx="2743200" cy="365125"/>
          </a:xfrm>
        </p:spPr>
        <p:txBody>
          <a:bodyPr/>
          <a:lstStyle/>
          <a:p>
            <a:fld id="{6D35D650-9284-46CA-B9CD-747A323924A7}" type="datetime1">
              <a:rPr lang="en-IN" smtClean="0"/>
              <a:t>09-04-2025</a:t>
            </a:fld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97F43-2B9A-CE3F-A312-643C1F3E2390}"/>
              </a:ext>
            </a:extLst>
          </p:cNvPr>
          <p:cNvSpPr txBox="1"/>
          <p:nvPr/>
        </p:nvSpPr>
        <p:spPr>
          <a:xfrm>
            <a:off x="6307809" y="1413164"/>
            <a:ext cx="62564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🚮   This idea supports the </a:t>
            </a:r>
            <a:r>
              <a:rPr lang="en-IN" sz="2400" b="1" dirty="0">
                <a:solidFill>
                  <a:srgbClr val="00B050"/>
                </a:solidFill>
              </a:rPr>
              <a:t>Swachh Bharat              mission – Clean India, Green India</a:t>
            </a:r>
            <a:r>
              <a:rPr lang="en-IN" sz="2400" dirty="0"/>
              <a:t>. </a:t>
            </a:r>
          </a:p>
          <a:p>
            <a:endParaRPr lang="en-IN" sz="2400" dirty="0"/>
          </a:p>
          <a:p>
            <a:r>
              <a:rPr lang="en-IN" sz="2400" dirty="0"/>
              <a:t>🚮   By using a smart system to detect full  dustbins and send alerts to the garbage collectors, through we can keep our surroundings clean and make sure waste is collected on time.</a:t>
            </a:r>
          </a:p>
          <a:p>
            <a:endParaRPr lang="en-IN" sz="2400" dirty="0"/>
          </a:p>
          <a:p>
            <a:r>
              <a:rPr lang="en-IN" sz="2400" dirty="0"/>
              <a:t> 🚮  It helps in better waste management </a:t>
            </a:r>
          </a:p>
          <a:p>
            <a:r>
              <a:rPr lang="en-IN" sz="2400" dirty="0"/>
              <a:t>     and  a cleaner environment</a:t>
            </a:r>
            <a:r>
              <a:rPr lang="en-IN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86862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F6F6F-EECB-A032-43E1-2A205DC616AC}"/>
              </a:ext>
            </a:extLst>
          </p:cNvPr>
          <p:cNvSpPr txBox="1"/>
          <p:nvPr/>
        </p:nvSpPr>
        <p:spPr>
          <a:xfrm>
            <a:off x="3851806" y="2321004"/>
            <a:ext cx="60942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Thank you </a:t>
            </a:r>
            <a:endParaRPr lang="en-IN" sz="6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8F9B6-D380-DF3E-BBE2-F953FA6F8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0D517-62B3-4763-A71A-83A1C8D14EA1}" type="datetime1">
              <a:rPr lang="en-IN" smtClean="0"/>
              <a:t>09-04-2025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1204</Words>
  <Application>Microsoft Office PowerPoint</Application>
  <PresentationFormat>Widescreen</PresentationFormat>
  <Paragraphs>171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                Target Beneficiaries&amp;         Social/Economic/Technological Impact </vt:lpstr>
      <vt:lpstr>PowerPoint Presentation</vt:lpstr>
      <vt:lpstr>PowerPoint Presentation</vt:lpstr>
      <vt:lpstr>PowerPoint Presentation</vt:lpstr>
      <vt:lpstr>             Implementation Plan </vt:lpstr>
      <vt:lpstr>PowerPoint Presentation</vt:lpstr>
      <vt:lpstr>                   Business Model &amp; Monetization  </vt:lpstr>
      <vt:lpstr>Scalability </vt:lpstr>
      <vt:lpstr> Future Scope </vt:lpstr>
      <vt:lpstr>        Conclusion &amp; Call to Action                                 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BALAJI RAVICHANDRAN</dc:creator>
  <cp:lastModifiedBy>AKSHAY V</cp:lastModifiedBy>
  <cp:revision>32</cp:revision>
  <dcterms:created xsi:type="dcterms:W3CDTF">2025-03-26T04:55:25Z</dcterms:created>
  <dcterms:modified xsi:type="dcterms:W3CDTF">2025-04-09T04:42:56Z</dcterms:modified>
</cp:coreProperties>
</file>